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ENGINEERING &amp; ARCHITECTURE PRESENTATION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AI-Based Fake Identity Document</a:t>
            </a:r>
            <a:br/>
            <a:r>
              <a:t>Screening System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Two-Stage Verification Pipeline with Decoupled Multi-Signal Document Validation, Client-Side OCR, Transfer Learning &amp; Tampering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TARGET DOCUMENTS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Aadhaar Card, PAN Card,</a:t>
            </a:r>
            <a:br/>
            <a:r>
              <a:t>Indian Passport, Voter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931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41148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PIPELINE ARCHITECTURE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Stage 1: Multi-Signal Validation</a:t>
            </a:r>
            <a:br/>
            <a:r>
              <a:t>Stage 2: Authenticity Forensics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931920"/>
            <a:ext cx="329184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41148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CORE TECH STACK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TensorFlow.js, Tesseract.js,</a:t>
            </a:r>
            <a:br/>
            <a:r>
              <a:t>MobileNetV2 &amp; Gemini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Comprehensive System Walkthrough | Confidential Engineering Review | Production Release v2.4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Problem Statement: Digital Identity Fraud &amp; Legacy Flaws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Surge in Synthetic Identity Fraud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Generative AI, high-resolution printers, and image editors allow fraudsters to create fake IDs with photorealistic accuracy.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Financial institutions, KYC onboarding, and visa processing face thousands of forged submissions daily.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Manual inspection is slow, expensive, error-prone, and inconsistent.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Privacy &amp; Latency Bottlenecks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Uploading unencrypted PII (Personally Identifiable Information) to cloud vision services exposes sensitive citizen identity data.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Server-side cloud inference creates unacceptable latency (3-8 seconds per document).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• Regulatory frameworks (GDPR, India DPDP Act) mandate local edge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Core Objectives of This Project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1. Zero Server Image Leakage: Perform 100% of image classification and OCR locally in the browser.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2. Cross-Type Resilience: Prevent false positive verdicts when incorrect document types are submitted.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3. Real-Time Forensic Diagnostics: Detect blur, underexposure, moiré patterns, and visual tampering in milliseconds.</a:t>
            </a:r>
          </a:p>
          <a:p>
            <a:pPr>
              <a:spcAft>
                <a:spcPts val="400"/>
              </a:spcAft>
              <a:defRPr sz="1100">
                <a:solidFill>
                  <a:srgbClr val="E2E8F0"/>
                </a:solidFill>
              </a:defRPr>
            </a:pPr>
            <a:r>
              <a:t>4. Explainable AI: Provide instant conversational forensic explanations when a fake is caught.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ALGORITHMIC FLAW IN CONVENTIONAL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Critical Vulnerability: Cross-Type False Confidence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How Legacy Binary Classifiers Fail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Closed-World Softmax Assumption: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An Aadhaar binary classifier is trained exclusively on Aadhaar-Original vs Aadhaar-Fake images. Its final layer forces sum(probabilities) = 1.0.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The Absurd Result: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When an applicant uploads a Passport or Voter ID while 'Aadhaar' is selected, the model forces a prediction on the unseen distribution, yielding: 'Aadhaar: ORIGINAL 99.8%'.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Why Naive Thresholding Fails: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Evaluating all models and picking the max confidence fails because out-of-distribution inputs routinely trigger saturated 99%+ probabilities across multiple disjoint models.</a:t>
            </a:r>
          </a:p>
          <a:p>
            <a:pPr>
              <a:spcAft>
                <a:spcPts val="200"/>
              </a:spcAft>
              <a:defRPr b="1" sz="1200">
                <a:solidFill>
                  <a:srgbClr val="F59E0B"/>
                </a:solidFill>
              </a:defRPr>
            </a:pPr>
            <a:r>
              <a:t>Security Danger: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Forgers bypass KYC simply by submitting a completely different valid document under the wrong category!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The Decoupled Two-Stage Solution</a:t>
            </a:r>
          </a:p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1. Strict Decoupling of Type vs Authenticity: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Per-type authenticity classifiers are strictly prohibited from participating in document identification. Stage 1 must independently determine WHAT the document is.</a:t>
            </a:r>
          </a:p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2. Multi-Signal Verification (Stage 1):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Triangulates 3 independent signals: Client-Side Multilingual OCR, a dedicated 5-class neural classifier, and multimodal Vision AI.</a:t>
            </a:r>
          </a:p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3. Stage 2 Warning Shield &amp; Suppression: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If Stage 1 determines that the uploaded image does not match the selected document type, Stage 2 scores are completely suppressed and hidden from the UI.</a:t>
            </a:r>
          </a:p>
          <a:p>
            <a:pPr>
              <a:spcAft>
                <a:spcPts val="200"/>
              </a:spcAft>
              <a:defRPr b="1" sz="1200">
                <a:solidFill>
                  <a:srgbClr val="38BDF8"/>
                </a:solidFill>
              </a:defRPr>
            </a:pPr>
            <a:r>
              <a:t>4. One-Click Smart Resolution: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The system detects the actual document type and offers a 1-click button: 'Switch to Passport and Verify'.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Two-Stage Verification Pipeline: Workflow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Input Acquisition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User selects document category (Aadhaar, PAN, Passport, Voter ID).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Uploads image (JPG, PNG, WEBP) or captures snapshot via live webcam.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Stage 1: Type Validation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Evaluates 3 independent signals: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1. Tesseract Multilingual OCR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2. 5-Class Doctype MobileNetV2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3. Gemini Vision LLM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Arbitrated via 5 Priority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14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Type Match Decision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If Match -&gt; Passes document forward to Stage 2.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If Mismatch -&gt; Suppresses Stage 2, displays mismatch banner &amp; 1-click switch button.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14600" cy="3931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82880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Stage 2: Authenticity &amp; Quality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Runs binary authenticity model on WebGL.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Executes Laplacian blur (&gt;=70), luminance bounds (35-225), and FFT moiré screening.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Verdict: ORIGINAL, FAKE, or SUSPICIOUS.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60720"/>
            <a:ext cx="10744200" cy="5943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10378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8FAFC"/>
                </a:solidFill>
              </a:defRPr>
            </a:pPr>
            <a:r>
              <a:t>Inference Pipeline: Ingestion [0ms] -&gt; Client OCR/Doctype [300-800ms] -&gt; Arbitration -&gt; WebGL Stage 2 [80ms] -&gt; AI Chatbot (On Fake)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System Architecture: Decoupled Multi-Tier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Tier 1: Client Browser (Port 5000)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HTML5 / CSS3 / ES6 Frontend Engine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Camera &amp; Canvas Engine: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Webcam streaming, aspect-ratio letterboxing (224x224), gamma boosting, and Laplacian filter processing.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Tesseract.js Web Worker: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Client-side OCR running in isolated background threads. Zero server latency and total privacy.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TensorFlow.js WebGL: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Hardware-accelerated neural inference directly on the user's GPU. Models cached in RAM for zero reload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Tier 2: Embedded ML Models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MobileNetV2 Transfer Learning Suite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Dedicated Doctype Model: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5-Class neural model (Aadhaar, PAN, Passport, Voter, Other) with 4-way rotation probability averaging.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Per-Type Authenticity Models: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4 specialized binary classifiers trained exclusively on Original vs Fake samples.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Model Artifacts Format: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Optimized WebGL weights.bin, topology model.json, and metadata.json bundled in 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 3: Backend Proxy (Port 5001)</a:t>
            </a:r>
          </a:p>
          <a:p>
            <a:pPr>
              <a:spcAft>
                <a:spcPts val="1200"/>
              </a:spcAft>
              <a:defRPr sz="1000">
                <a:solidFill>
                  <a:srgbClr val="94A3B8"/>
                </a:solidFill>
              </a:defRPr>
            </a:pPr>
            <a:r>
              <a:t>Node.js Express Secure Gateway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Secure API Proxy: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Safeguards GEMINI_API_KEY in server/.env, eliminating any client-side credential exposure.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Endpoint /api/verify-doc-type: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Multimodal visual inspection fallback for obscured or damaged documents.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Endpoint /api/explain-fake:</a:t>
            </a:r>
          </a:p>
          <a:p>
            <a:pPr>
              <a:spcAft>
                <a:spcPts val="800"/>
              </a:spcAft>
              <a:defRPr sz="1000">
                <a:solidFill>
                  <a:srgbClr val="E2E8F0"/>
                </a:solidFill>
              </a:defRPr>
            </a:pPr>
            <a:r>
              <a:t>Generates structured forensic red-flag breakdowns and handles live follow-up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DOCUMENT TYPE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1 - Signal 1A: Advanced Multilingual OCR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4-Step Canvas Preprocessing Engine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1. Dynamic Upscaling (&gt;=1600px):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Documents photographed on low-res cameras have degraded glyphs. Bilinear scaling ensures long edge is scaled to 1600px (capped at 2200px) to maximize Tesseract character confidence.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2. Non-Linear Gamma Brightening (gamma=0.55):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Computes average luminance L_avg = (0.299R + 0.587G + 0.114B). If L_avg &lt; 80, applies exponential tone mapping to lift deep shadows without blowing out text highlights.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3. Adaptive Contrast Stretching: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Stretches midtone dynamic range to cleanly delineate printed text from complex security background guilloche patterns.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4. 4-Angle Orientation Sweep (0°, 90°, 180°, 270°):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Tesseract sweeps 4 orthogonal rotations. If a definitive document keyword is found at any rotation, early exit terminates the sweep immediately for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</a:defRPr>
            </a:pPr>
            <a:r>
              <a:t>Document Identification Regex &amp; Keywords</a:t>
            </a:r>
          </a:p>
          <a:p>
            <a:pPr>
              <a:spcAft>
                <a:spcPts val="100"/>
              </a:spcAft>
              <a:defRPr b="1" sz="1150">
                <a:solidFill>
                  <a:srgbClr val="10B981"/>
                </a:solidFill>
              </a:defRPr>
            </a:pPr>
            <a:r>
              <a:t>• Aadhaar Card: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UIDAI, unique identification authority, आधार, ಆಧಾರ್</a:t>
            </a:r>
            <a:br/>
            <a:r>
              <a:t>Regex: [2-9]\d{3}\s?\d{4}\s?\d{4} (12 digits)</a:t>
            </a:r>
          </a:p>
          <a:p>
            <a:pPr>
              <a:spcAft>
                <a:spcPts val="100"/>
              </a:spcAft>
              <a:defRPr b="1" sz="1150">
                <a:solidFill>
                  <a:srgbClr val="10B981"/>
                </a:solidFill>
              </a:defRPr>
            </a:pPr>
            <a:r>
              <a:t>• PAN Card: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Income Tax Department, Permanent Account Number</a:t>
            </a:r>
            <a:br/>
            <a:r>
              <a:t>Regex: [A-Z]{5}\d{4}[A-Z] (Standard 10-char PAN format)</a:t>
            </a:r>
          </a:p>
          <a:p>
            <a:pPr>
              <a:spcAft>
                <a:spcPts val="100"/>
              </a:spcAft>
              <a:defRPr b="1" sz="1150">
                <a:solidFill>
                  <a:srgbClr val="10B981"/>
                </a:solidFill>
              </a:defRPr>
            </a:pPr>
            <a:r>
              <a:t>• Indian Passport: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Passport No, Republic of India, Nationality + Expiry</a:t>
            </a:r>
            <a:br/>
            <a:r>
              <a:t>Regex: P&lt;IND[A-Z0-9&lt;]{10,} (ICAO 9303 MRZ Code)</a:t>
            </a:r>
          </a:p>
          <a:p>
            <a:pPr>
              <a:spcAft>
                <a:spcPts val="100"/>
              </a:spcAft>
              <a:defRPr b="1" sz="1150">
                <a:solidFill>
                  <a:srgbClr val="10B981"/>
                </a:solidFill>
              </a:defRPr>
            </a:pPr>
            <a:r>
              <a:t>• Voter ID Card: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Election Commission of India, भारत निर्वाचन आयोग</a:t>
            </a:r>
            <a:br/>
            <a:r>
              <a:t>Regex: [A-Z]{3}\d{7} (Standard 10-char EPIC Number)</a:t>
            </a:r>
          </a:p>
          <a:p>
            <a:pPr>
              <a:defRPr sz="950" i="1">
                <a:solidFill>
                  <a:srgbClr val="94A3B8"/>
                </a:solidFill>
              </a:defRPr>
            </a:pPr>
            <a:r>
              <a:t>Multilingual Support: Configured with English + Hindi + Kannada traineddata models to accurately parse regional state language headers.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DOCUMENT TYPE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1 - Signal 1B &amp; 1C: Neural Classifier &amp; Vision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Signal 1B: Dedicated 5-Class Classifier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Trained Architecture: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MobileNetV2 (alpha=0.35) trained across 5 distinct classes: [aadhaar, pan, passport, voter, other].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Letterbox Preprocessing: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Image aspect ratio is preserved by centering inside a 224x224 canvas with neutral gray (#808080) padding, preventing geometric distortion of identity cards.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4-Way Rotation Invariance: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Evaluates the document at 0°, 90°, 180°, and 270°, then averages softmax vectors: P_avg(c) = 1/4 * sum(P_theta(c)).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Strict Decision Thresholds: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Top class probability must satisfy P &gt;= 0.85, and no competing rival class may exceed 0.30 to prevent ambiguous misclassification.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Signal 1C: Gemini Multimodal Vision LLM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Multimodal Fallback Gate: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Invoked via backend /api/verify-doc-type when OCR is obscured by severe blur or physical card damage.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Macro Feature Inspection: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Examines state emblems (Lion Capital of Ashoka), layout geometry, guilloche prints, and MRZ placement.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Structured JSON Output: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Returns machine-verifiable payload:</a:t>
            </a:r>
            <a:br/>
            <a:r>
              <a:t>{</a:t>
            </a:r>
            <a:br/>
            <a:r>
              <a:t>  'type': 'aadhaar' | 'pan' | 'passport' | 'voter' | 'other',</a:t>
            </a:r>
            <a:br/>
            <a:r>
              <a:t>  'confidence': 0.0 - 1.0,</a:t>
            </a:r>
            <a:br/>
            <a:r>
              <a:t>  'reason': 'Clear UIDAI emblem and 12-digit number.',</a:t>
            </a:r>
            <a:br/>
            <a:r>
              <a:t>  'fake_signals': ['screen_moire', 'font_mismatch']</a:t>
            </a:r>
            <a:br/>
            <a:r>
              <a:t>}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Offline Graceful Degradation: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If backend or API key is absent, the system operates seamlessly with Signals 1A + 1B.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DECISION ARBITRATION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1: Deterministic Priority Decision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Rule 1: Definitive OCR Match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Single type returns strong keywords or regex hit. Confirmed with 99% confidence. Bypasses all other signals immediately.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Rule 2: Multiple OCR Candidates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Multiple types return partial keyword matches. Selects highest score but flags 'Low Certainty' (82%), presenting user confirmation buttons.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Rule 3: Dedicated Doctype Classifier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OCR returns zero strong hits. MobileNetV2 evaluated: accepted if top probability &gt;= 0.85 and runner-up &lt;= 0.30.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Rule 4: Multimodal Vision LLM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Dedicated classifier is missing or ambiguous. Queries Gemini Vision proxy. Accepted if confidence &gt;= 0.75.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Rule 5: Fallback &amp; Warning Shield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All signals fail or classify image as 'other'. Triggers Unrecognized Document Shield; blocks Stage 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AUTHENTICITY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2: Authenticity Screening &amp; Strict Isolation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Strict Stage 2 Isolation Policy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The Firewall Principle: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Stage 2 binary authenticity models NEVER execute until Stage 1 has verified that the uploaded document matches the user's selected category.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Score Suppression on Mismatch: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If an applicant uploads a Voter ID while 'PAN Card' is selected, Stage 2's ORIGINAL/FAKE progress bars and confidence numbers are completely suppressed and hidden.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Visual Warning Banner: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Replaces output with: 'Warning: Selected PAN Card, but document appears to be Voter ID (Confidence 99%)'.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One-Click Category Correction: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Displays an interactive action button allowing the user or compliance officer to switch to the detected document type and re-verify in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Authenticity Assessment Components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Hardware-Accelerated WebGL Inference: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Executes per-type Teachable Machine neural models directly in the client browser, maintaining sub-100ms response times.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Aspect-Ratio Letterboxing (224x224):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Preserves high aspect-ratio ID card dimensions without stretching or warping text characters and portrait photos.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Pixel-Level Forensic Quality Checks: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Measures focus sharpness, dynamic illumination balance, and digital display moiré patterns before finalizing verdict.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Dynamic Confidence Capping: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All display percentages are capped at 99.0% maximum to eliminate mathematically misleading 100% certainty claims.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IMAGE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2: Client-Side Forensic Quality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284C7"/>
                </a:solidFill>
              </a:defRPr>
            </a:pPr>
            <a:r>
              <a:t>Laplacian Blur Variance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Threshold: &gt;= 70.0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Computes discrete 3x3 Laplacian operator kernel [[0,1,0],[1,-4,1],[0,1,0]] over grayscale pixels.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Measures high-frequency edge energy.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Variance &lt; 70 indicates severe camera motion blur or out-of-focus capture.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Triggers 'Blurry Document' recapture alert.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Luminance Bounds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Range: 35 to 225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Evaluates average luminance across RGB channels.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L_avg &lt; 35 indicates severe underexposure (shadows obscure vital micro-details).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L_avg &gt; 225 indicates washed-out overexposure with saturated highlights.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Prevents erroneous fake classifications.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38BDF8"/>
                </a:solidFill>
              </a:defRPr>
            </a:pPr>
            <a:r>
              <a:t>Resolution Verification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Minimum: 400 x 300 px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Verifies ingested image pixel count.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Downsampled or thumbnail images (&lt;400x300) lack sufficient pixel density for hologram and microline inspection.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Flags low-resolution submissions for re-upload.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</a:defRPr>
            </a:pPr>
            <a:r>
              <a:t>Screen Moiré / Recapture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Frequency Analysis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Computes diagonal periodic pixel intensity gradients to detect electronic screen display pixels.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Photographs of computer or mobile screens exhibit optical moiré fringes.</a:t>
            </a:r>
          </a:p>
          <a:p>
            <a:pPr>
              <a:spcAft>
                <a:spcPts val="200"/>
              </a:spcAft>
              <a:defRPr sz="1000">
                <a:solidFill>
                  <a:srgbClr val="E2E8F0"/>
                </a:solidFill>
              </a:defRPr>
            </a:pPr>
            <a:r>
              <a:t>• Automatically flags suspected digital display spoofing as SUSPICIOUS.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Stage 2: Multi-Factor Verdict Synthesis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ORIGINAL — Authentic Document Verified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Criteria: Neural model probability for Original &gt; 50% AND zero forensic quality or tampering flags.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System Action: Displays green Verified Badge, displays verified document details, allows onboarding progress.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F4444"/>
                </a:solidFill>
              </a:defRPr>
            </a:pPr>
            <a:r>
              <a:t>FAKE — Counterfeit or Manipulated Document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Criteria: Neural model Fake probability &gt;= 50% OR &gt;= 2 structural tampering flags (font anomalies, border tampering).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System Action: Displays red Warning Card, blocks submission, and automatically deploys the AI Forensic Chatbot.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SUSPICIOUS — Inconclusive / Potential Presentation Attack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Criteria: Significant divergence between local neural classifier and Gemini Vision, or screen moiré detected.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System Action: Displays amber alert, routes case to manual compliance officer review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94A3B8"/>
                </a:solidFill>
              </a:defRPr>
            </a:pPr>
            <a:r>
              <a:t>LOW CONFIDENCE — Suboptimal Capture Quality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Criteria: Classifier predicts Original, but image fails Laplacian blur (&lt; 70) or luminance bounds (&lt; 35 or &gt; 225).</a:t>
            </a:r>
          </a:p>
          <a:p>
            <a:pPr>
              <a:spcAft>
                <a:spcPts val="200"/>
              </a:spcAft>
              <a:defRPr sz="1050">
                <a:solidFill>
                  <a:srgbClr val="E2E8F0"/>
                </a:solidFill>
              </a:defRPr>
            </a:pPr>
            <a:r>
              <a:t>• System Action: Displays neutral gray card prompting user to recapture in proper lighting without penalizing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EXPLAINABLE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AI Security Assistant: Interactive Forensic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284C7"/>
                </a:solidFill>
              </a:defRPr>
            </a:pPr>
            <a:r>
              <a:t>Secure Backend Proxy Architecture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Zero Key Leakage: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The client application never stores or handles the Gemini API key. All calls route through Express.js on Port 5001.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Endpoint /api/explain-fake: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Invoked ONLY when a document is classified as FAKE or SUSPICIOUS. Passes document category, confidence score, and forensic flags.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Controlled Temperature (0.2):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Maintains high analytical precision and prevents hallucinations during forensic fraud analysis.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Offline Graceful Fallback: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If backend proxy or external internet is unavailable, a pre-compiled rule-based forensic knowledge base generates detailed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Slide-In Forensic Chatbot UI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Automated Initial Briefing: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Immediately generates 3-5 structured bullet points highlighting specific red flags (e.g. font misalignment, irregular ghost image, missing micro-text).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Interactive Follow-Up Q&amp;A: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Users can query: 'What should the PAN hologram look like?' or 'How do I check my Aadhaar QR code online?'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Strict Persona Enforcement: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System prompt strictly constrains the assistant to identity document verification. Off-topic inquiries are politely deflected.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Context History Preservation: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Maintains conversation history per session so follow-up queries retain full awareness of previously flagged document anomalies.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MODEL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Datasets, Model Training &amp; Class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Training Dataset Distribution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Passport (274 images):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34 Original / 240 Fake samples covering Indian Passport photo page layouts and MRZ fonts.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PAN Card (117 images):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106 Original / 11 Fake samples representing NSDL and UTIITSL tax card variations.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Voter ID (186 images):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12 Original / 174 Fake samples showing both legacy paper-laminated and new PVC EPIC cards.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Aadhaar Card (9 base images):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3 Original / 6 Fake samples with standard UIDAI formatting and QR blocks.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Other / Background (200 images):</a:t>
            </a:r>
          </a:p>
          <a:p>
            <a:pPr>
              <a:spcAft>
                <a:spcPts val="400"/>
              </a:spcAft>
              <a:defRPr sz="1000">
                <a:solidFill>
                  <a:srgbClr val="E2E8F0"/>
                </a:solidFill>
              </a:defRPr>
            </a:pPr>
            <a:r>
              <a:t>Non-document images, random objects, wallpapers, and generic certificate cards.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Overcoming Extreme Class Imbalance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The Challenge: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</a:defRPr>
            </a:pPr>
            <a:r>
              <a:t>Aadhaar Card had only 9 base images compared to 274 Passport images, creating severe bias risk.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Heavy Data Augmentation: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</a:defRPr>
            </a:pPr>
            <a:r>
              <a:t>Applied rotation (+-25°), brightness jitter (0.7x - 1.3x), zoom (0.8x - 1.2x), and perspective shear to synthesize 300+ diverse training variations.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Loss Function Weight Balancing: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</a:defRPr>
            </a:pPr>
            <a:r>
              <a:t>Calculated dynamic class weights: W_c = N_total / (C * N_c), ensuring gradient updates were proportionally scaled for minority classes.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MobileNetV2 Web Serialization:</a:t>
            </a:r>
          </a:p>
          <a:p>
            <a:pPr>
              <a:spcAft>
                <a:spcPts val="500"/>
              </a:spcAft>
              <a:defRPr sz="1000">
                <a:solidFill>
                  <a:srgbClr val="E2E8F0"/>
                </a:solidFill>
              </a:defRPr>
            </a:pPr>
            <a:r>
              <a:t>Trained model exported into model.json and weights.bin for direct zero-latency browser execution.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FRONTEND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User Interface &amp; Real-Time Debug Inspector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284C7"/>
                </a:solidFill>
              </a:defRPr>
            </a:pPr>
            <a:r>
              <a:t>Glassmorphic Dark Interface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Modern dark aesthetic utilizing CSS backdrop filters, responsive grid layout, and instant category selection tabs for Aadhaar, PAN, Passport, and Voter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Dual Ingestion Modes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Seamless file drag-and-drop zone supporting JPG, PNG, WEBP, alongside a full HTML5 webcam module for live frame capture and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Live Debug Inspector (?debug=1)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Built-in telemetry panel displaying real-time pipeline diagnostics: active decision rule (1-5), raw OCR text, angle orientation, and per-class probability vectors.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069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</a:defRPr>
            </a:pPr>
            <a:r>
              <a:t>Doctype Missing Banner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Automated system health check that alerts operators on startup if ./model-doctype/ weights require regeneration via train_doctype.py.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SECURITY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Security Architecture &amp; Authentication 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</a:defRPr>
            </a:pPr>
            <a:r>
              <a:t>Portal Authentication (`login.html`)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Dedicated authentication gateway before accessing screening portal.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Session token stored in sessionStorage and validated on every page load.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Unauthenticated access attempts immediately redirect to login.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Pre-seeded demo credentials provided for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PII Protection &amp; Data Privacy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Zero image persistence on servers: document photos never touch cloud disks.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All OCR extraction and feature evaluation occurs entirely within client browser RAM.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Compliant with strict biometric and data privacy statutes (India DPDP Act / GDPR).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59E0B"/>
                </a:solidFill>
              </a:defRPr>
            </a:pPr>
            <a:r>
              <a:t>API Key Defense &amp; Server Proxy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Gemini AI API key resides strictly inside server/.env on the backend proxy.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Client code only addresses relative endpoints (/api/explain-fake).</a:t>
            </a:r>
          </a:p>
          <a:p>
            <a:pPr>
              <a:spcAft>
                <a:spcPts val="400"/>
              </a:spcAft>
              <a:defRPr sz="1050">
                <a:solidFill>
                  <a:srgbClr val="E2E8F0"/>
                </a:solidFill>
              </a:defRPr>
            </a:pPr>
            <a:r>
              <a:t>• CORS policies restrict requests to authorized origins, preventing key theft.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Comprehensive Verification &amp; Test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Test Scenario: Correct Match | Status: [PASS]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Uploaded: Authentic Aadhaar Card | Selected: Aadhaar Card  ==&gt;  Stage 1 confirms Aadhaar via Rule 1 (OCR) -&gt; Stage 2 confirms authenticity -&gt; ORIGINAL.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Test Scenario: Type Mismatch | Status: [PASS]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Uploaded: Valid Passport Image | Selected: Aadhaar Card  ==&gt;  Stage 1 detects Passport -&gt; Stage 2 suppressed -&gt; Mismatch Warning + 1-Click Switch Button.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Test Scenario: Manipulated Doc | Status: [PASS]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Uploaded: Forged PAN Card | Selected: PAN Card  ==&gt;  Stage 1 confirms PAN -&gt; Stage 2 neural model flags fake -&gt; FAKE -&gt; AI Chatbot activates.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Test Scenario: Non-Document | Status: [PASS]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Uploaded: Random Wallpaper / Selfie | Selected: Voter ID  ==&gt;  Stage 1 triggers Rule 5 (Unrecognized / Other) -&gt; Stage 2 completely suppressed.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0B981"/>
                </a:solidFill>
              </a:defRPr>
            </a:pPr>
            <a:r>
              <a:t>Test Scenario: Low Quality | Status: [PASS]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Uploaded: Blurry / Dark Passport | Selected: Passport  ==&gt;  Stage 1 upscales image -&gt; Type detected -&gt; Laplacian variance &lt; 70 -&gt; LOW CONFIDENCE alert.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IMPLEMENTATION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Comprehensive Technology Stack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Frontend &amp; Inference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HTML5 / Canvas API: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Real-time pixel processing, gamma tone-mapping, and Laplacian edge filtering.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TensorFlow.js (WebGL):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Client-side GPU inference for MobileNetV2 and Teachable Machine models.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Tesseract.js v5: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Web Worker OCR engine supporting English, Hindi, and Kannada script recognition.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CSS3 Modern Styles: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Glassmorphic responsive interface with CSS variables and flexbox/grid layout.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Backend &amp; Cloud AI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Node.js &amp; Express.js: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Lightweight backend proxy handling CORS, API endpoints, and security shielding.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Google Gemini AI: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Multimodal Vision LLM for difficult document verification and fraud explanation.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dotenv &amp; cors: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Secure local environment variable handling and cross-origin policy enforcement.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Python 3.12 HTTP: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Zero-dependency static file server hosting the client web portal on Port 5000.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ML Training &amp; Utilities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MobileNetV2 (alpha=0.35):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Lightweight transfer learning backbone optimized for client-side web inference.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Python Data Pipeline: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Automated deduplication (SHA-256), class balancing, and synthetic data augmentation.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Teachable Machine Format: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Standardized model.json, weights.bin, and metadata.json export pipeline.</a:t>
            </a:r>
          </a:p>
          <a:p>
            <a:pPr>
              <a:spcAft>
                <a:spcPts val="100"/>
              </a:spcAft>
              <a:defRPr b="1" sz="1050">
                <a:solidFill>
                  <a:srgbClr val="F59E0B"/>
                </a:solidFill>
              </a:defRPr>
            </a:pPr>
            <a:r>
              <a:t>• Session Auth Guards:</a:t>
            </a:r>
          </a:p>
          <a:p>
            <a:pPr>
              <a:spcAft>
                <a:spcPts val="600"/>
              </a:spcAft>
              <a:defRPr sz="950">
                <a:solidFill>
                  <a:srgbClr val="E2E8F0"/>
                </a:solidFill>
              </a:defRPr>
            </a:pPr>
            <a:r>
              <a:t>Local and session storage encryption tokens protecting screening routes.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SUMMARY &amp;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Key Achievements, Future Roadmap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Key Project Achievements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Eliminated Cross-Type Vulnerability: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Decoupled Stage 1 document classification prevents spurious 99% confident classifications on wrong document types.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100% Client-Side Privacy: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Biometric and document images remain strictly within the user's browser, satisfying high privacy mandates.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Ultra-Fast Real-Time Response: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WebGL neural inference executes in ~80ms, delivering instant verification feedback for users and compliance officers.</a:t>
            </a:r>
          </a:p>
          <a:p>
            <a:pPr>
              <a:spcAft>
                <a:spcPts val="100"/>
              </a:spcAft>
              <a:defRPr b="1" sz="1100">
                <a:solidFill>
                  <a:srgbClr val="38BDF8"/>
                </a:solidFill>
              </a:defRPr>
            </a:pPr>
            <a:r>
              <a:t>Explainable AI Integration: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Interactive Gemini chatbot gives clear, human-understandable explanations of why a document was rejected as fake.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</a:defRPr>
            </a:pPr>
            <a:r>
              <a:t>Future Enhancement Roadmap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1. Official Government API Integration: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Direct cryptographically signed verification against DigiLocker and UIDAI Aadhaar verification APIs.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2. Micro-Printing &amp; UV Fluorescence: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High-magnification edge inspection to verify micro-printed security text and UV ink patterns.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3. Real-Time Video Liveness &amp; Holo-Tilt: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Guide users through interactive card-tilting motions via live video to verify dynamic optical hologram refractions.</a:t>
            </a:r>
          </a:p>
          <a:p>
            <a:pPr>
              <a:spcAft>
                <a:spcPts val="100"/>
              </a:spcAft>
              <a:defRPr b="1" sz="1100">
                <a:solidFill>
                  <a:srgbClr val="F59E0B"/>
                </a:solidFill>
              </a:defRPr>
            </a:pPr>
            <a:r>
              <a:t>4. Mobile App SDK &amp; Offline Packaging: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Package the WebGL and Tesseract pipeline into native iOS and Android SDKs for field agent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